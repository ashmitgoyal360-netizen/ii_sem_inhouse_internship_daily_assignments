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Inter" panose="02000503000000020004"/>
      <p:regular r:id="rId30"/>
    </p:embeddedFont>
    <p:embeddedFont>
      <p:font typeface="Inter Bold" panose="02000503000000020004"/>
      <p:regular r:id="rId31"/>
      <p:bold r:id="rId32"/>
    </p:embeddedFont>
    <p:embeddedFont>
      <p:font typeface="Inter Light" panose="02000503000000020004" pitchFamily="2" charset="0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5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87" d="100"/>
          <a:sy n="87" d="100"/>
        </p:scale>
        <p:origin x="776" y="968"/>
      </p:cViewPr>
      <p:guideLst>
        <p:guide pos="438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13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5325" y="3311047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10: Managing Data with CRUD Operations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95325" y="4344510"/>
            <a:ext cx="6906444" cy="448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 Your First Complete Web Application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95325" y="5019544"/>
            <a:ext cx="2723189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4541" y="5069154"/>
            <a:ext cx="313434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BOOTCAMP · DAY 10 OF 13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D0CF230-7BFA-63D2-A464-E7C697B78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77" y="2041940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0016"/>
            <a:ext cx="10648187" cy="611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🤔</a:t>
            </a: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Opening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0830" y="1560909"/>
            <a:ext cx="19050" cy="440432"/>
          </a:xfrm>
          <a:prstGeom prst="roundRect">
            <a:avLst>
              <a:gd name="adj" fmla="val 59999"/>
            </a:avLst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>
            <a:spLocks/>
          </p:cNvSpPr>
          <p:nvPr/>
        </p:nvSpPr>
        <p:spPr>
          <a:xfrm>
            <a:off x="862983" y="1560909"/>
            <a:ext cx="10648187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you just submitted a student record — but the CGPA is wrong. Can you fix it? Can you delete it entirely?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2124174"/>
            <a:ext cx="10868745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real-world application needs more than just inserting data. Users make mistakes. Records become outdated. Data needs to be corrected, removed, and searched. Today, you'll build exactly that — a system that gives you full control over your data.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2687435"/>
            <a:ext cx="8452035" cy="38683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41606" y="5484322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Saved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41783" y="563716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Update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352827" y="563716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 Clicked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320397" y="5637166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Wrong Data</a:t>
            </a:r>
            <a:endParaRPr lang="en-US" sz="1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F2DE1D-6851-0461-1FDA-141F7F358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66564"/>
            <a:ext cx="4670546" cy="48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Today's Mission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61475" y="1908854"/>
            <a:ext cx="6296860" cy="117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this session, you will have built and deployed a fully functional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Management System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complete with every core CRUD operation and a polished Bootstrap UI.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312883"/>
            <a:ext cx="3150000" cy="1046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161" y="3428572"/>
            <a:ext cx="347257" cy="34726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2607" y="3524020"/>
            <a:ext cx="156266" cy="156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40104" y="3433582"/>
            <a:ext cx="1447168" cy="229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240105" y="3663074"/>
            <a:ext cx="2310618" cy="661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all student records in a clean table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61475" y="4440405"/>
            <a:ext cx="3150000" cy="1046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77161" y="4556094"/>
            <a:ext cx="347257" cy="34726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607" y="4651542"/>
            <a:ext cx="156266" cy="1562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40104" y="4562769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 &amp; Update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59944" y="4824606"/>
            <a:ext cx="2290779" cy="591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existing student data via a pre-filled form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947001" y="3312883"/>
            <a:ext cx="3150000" cy="1046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4062687" y="3428573"/>
            <a:ext cx="347257" cy="34726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58133" y="3524021"/>
            <a:ext cx="156266" cy="1562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45470" y="3435246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545470" y="3697085"/>
            <a:ext cx="2290779" cy="5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records safely with a confirmation step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947001" y="4440405"/>
            <a:ext cx="3150000" cy="1046559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062687" y="4556094"/>
            <a:ext cx="347257" cy="347266"/>
          </a:xfrm>
          <a:prstGeom prst="ellipse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58133" y="4651543"/>
            <a:ext cx="156266" cy="15627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45470" y="4562768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45470" y="4824607"/>
            <a:ext cx="2290779" cy="568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records by name, branch, or email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7BAE618-1820-AA07-D6E9-5FC6C0F1F3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8948" y="-57566"/>
            <a:ext cx="1030270" cy="103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9980"/>
            <a:ext cx="4615541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30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Session Roadmap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42840"/>
            <a:ext cx="10868745" cy="63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module follows the same proven four-step rhythm — so you always know what's coming next. No more than 10 minutes will pass without you writing code.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50281"/>
            <a:ext cx="5434373" cy="6284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8534" y="3027958"/>
            <a:ext cx="196398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💡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Concept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818534" y="3369370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"why" in 3 minutes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50281"/>
            <a:ext cx="5434373" cy="6284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52907" y="3027958"/>
            <a:ext cx="196398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👨‍💻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Live Coding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252907" y="3369370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the instructor build it live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771602"/>
            <a:ext cx="5434373" cy="6284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8534" y="4549279"/>
            <a:ext cx="196398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18534" y="4890691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implement it yourself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771602"/>
            <a:ext cx="5434373" cy="6284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52907" y="4549279"/>
            <a:ext cx="1963986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252907" y="4890691"/>
            <a:ext cx="512025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it with a bonus feature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61475" y="5460802"/>
            <a:ext cx="10868745" cy="607120"/>
          </a:xfrm>
          <a:prstGeom prst="roundRect">
            <a:avLst>
              <a:gd name="adj" fmla="val 3882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34" y="5684639"/>
            <a:ext cx="196349" cy="15706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1942" y="5634732"/>
            <a:ext cx="10201219" cy="227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session has 4 modules: Update · Delete · Search · Better UX — followed by a Bug Hunt, Build Sprint, and Demo Day.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43D8E8D-7C24-E0E0-8702-A91F4D68DD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3397" y="768881"/>
            <a:ext cx="4744323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Rapid Fire Recap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63611"/>
            <a:ext cx="10868646" cy="1093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to the person next to you. You have 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minutes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discuss these questions together. Be ready to share your answers with the class.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42902"/>
            <a:ext cx="3512653" cy="12556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927251"/>
            <a:ext cx="208354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Purpose of MySQL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22017" y="3284934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role does MySQL play in a web application? What does it store?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742902"/>
            <a:ext cx="3512752" cy="12556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2927251"/>
            <a:ext cx="21862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INSERT vs. SELECT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99964" y="3284934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key difference? When do you use each one?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742902"/>
            <a:ext cx="3512653" cy="12556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8010" y="292725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Primary Key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78010" y="3284934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it, and why is it absolutely required in every table?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63814"/>
            <a:ext cx="3512653" cy="12619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22017" y="43481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 Form Validation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922017" y="4705846"/>
            <a:ext cx="306776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validate on both client-side (JS) and server-side (PHP)?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4163814"/>
            <a:ext cx="3512752" cy="126196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99964" y="434816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 PHP </a:t>
            </a: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MySQL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4599964" y="4712196"/>
            <a:ext cx="30678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through the connection steps: credentials, connect, query, fetch.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0604D8E-8EC1-C56C-EE2F-872070FED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2863"/>
            <a:ext cx="858221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2162473"/>
            <a:ext cx="126937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89895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Updating Records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254673"/>
            <a:ext cx="6315512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Edit. Fix. Save.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661475" y="4215904"/>
            <a:ext cx="10868745" cy="12874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this module you'll learn how to select a specific record, pre-populate a form with its data, and write an </a:t>
            </a:r>
            <a:r>
              <a:rPr lang="en-US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SQL query to save the changes — all wired together through PHP.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4DD93-E578-3412-1F36-D90F1D1CD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7">
            <a:extLst>
              <a:ext uri="{FF2B5EF4-FFF2-40B4-BE49-F238E27FC236}">
                <a16:creationId xmlns:a16="http://schemas.microsoft.com/office/drawing/2014/main" id="{B1B73B52-F4E4-3BA1-060A-50C85D2E6633}"/>
              </a:ext>
            </a:extLst>
          </p:cNvPr>
          <p:cNvSpPr/>
          <p:nvPr/>
        </p:nvSpPr>
        <p:spPr>
          <a:xfrm>
            <a:off x="6096000" y="4850028"/>
            <a:ext cx="5386977" cy="1461872"/>
          </a:xfrm>
          <a:prstGeom prst="roundRect">
            <a:avLst>
              <a:gd name="adj" fmla="val 1552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09023" y="798973"/>
            <a:ext cx="8053012" cy="46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· Concept: How UPDATE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09023" y="1376460"/>
            <a:ext cx="10827547" cy="5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Updating a record is a two-step process. First you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read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record (SELECT by ID), then you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write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changes back (UPDATE with a WHERE clause). The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clause is critical — without it, every row in the table gets overwritten.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b="25090"/>
          <a:stretch>
            <a:fillRect/>
          </a:stretch>
        </p:blipFill>
        <p:spPr>
          <a:xfrm>
            <a:off x="880366" y="1784202"/>
            <a:ext cx="10520595" cy="2957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3045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UPDATE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3045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Edits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3045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Pre-fill Form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3045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Fetch Record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3045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709023" y="4850028"/>
            <a:ext cx="5386977" cy="1461872"/>
          </a:xfrm>
          <a:prstGeom prst="roundRect">
            <a:avLst>
              <a:gd name="adj" fmla="val 155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91039" y="4939743"/>
            <a:ext cx="1966268" cy="239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SQL Pattern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91736" y="5663704"/>
            <a:ext cx="5241496" cy="648196"/>
          </a:xfrm>
          <a:prstGeom prst="roundRect">
            <a:avLst>
              <a:gd name="adj" fmla="val 2512"/>
            </a:avLst>
          </a:prstGeom>
          <a:solidFill>
            <a:srgbClr val="09F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2404" y="5269230"/>
            <a:ext cx="5252212" cy="1055034"/>
          </a:xfrm>
          <a:prstGeom prst="roundRect">
            <a:avLst>
              <a:gd name="adj" fmla="val 2512"/>
            </a:avLst>
          </a:prstGeom>
          <a:solidFill>
            <a:srgbClr val="09F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007" y="5353624"/>
            <a:ext cx="4980954" cy="84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</a:t>
            </a:r>
            <a:endParaRPr lang="en-US" sz="1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 name='John', cgpa=3.8</a:t>
            </a:r>
            <a:endParaRPr lang="en-US" sz="1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id=5;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34552" y="4940371"/>
            <a:ext cx="1966268" cy="175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Golden Rule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34552" y="5376168"/>
            <a:ext cx="5135441" cy="82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include </a:t>
            </a:r>
            <a:r>
              <a:rPr lang="en-US" sz="14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?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your UPDATE statement. Omitting the WHERE clause will update </a:t>
            </a:r>
            <a:r>
              <a:rPr lang="en-US" sz="1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every single row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your table — a mistake that is very difficult to undo.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343EDC-8846-5DDF-FCFE-AAEE9147B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25" y="792113"/>
            <a:ext cx="782012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· Live Coding: Edit Student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69918" y="1465857"/>
            <a:ext cx="10885788" cy="714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carefully. The instructor will build the full Edit flow — step by step — in VS Code. You'll see the result in the browser after each step.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46945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2731393"/>
            <a:ext cx="3512653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85214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 Edit Button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209826"/>
            <a:ext cx="3512653" cy="92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"Edit" button to each row in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passes the student's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the URL: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edit.php?id=5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39422" y="246945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9422" y="2731393"/>
            <a:ext cx="3512752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39422" y="285214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Fetch the Record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3209826"/>
            <a:ext cx="3512752" cy="1027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$_GET['id']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run a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and retrieve that student's current data.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17468" y="246945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17468" y="2731393"/>
            <a:ext cx="3512653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017468" y="285214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Pre-fill the 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3209826"/>
            <a:ext cx="3512653" cy="924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Populate each input field's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attribute with the fetched data so the user sees the current values.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147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475" y="4554934"/>
            <a:ext cx="5351626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475" y="4675684"/>
            <a:ext cx="2317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the UPDATE Query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5033367"/>
            <a:ext cx="5351626" cy="67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form submit, run the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students SET ... WHERE id=?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using prepared statements.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78395" y="4292997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8395" y="4554934"/>
            <a:ext cx="5351725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8395" y="4675684"/>
            <a:ext cx="22974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Redirect with Message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395" y="5033367"/>
            <a:ext cx="5351725" cy="67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 to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display a Bootstrap success alert: "Record updated successfully."</a:t>
            </a:r>
            <a:endParaRPr lang="en-US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ACA75BC-550D-36EA-F204-A5C71EEEE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14EE4269-7A36-FEAC-EE4C-2E82AF60907C}"/>
              </a:ext>
            </a:extLst>
          </p:cNvPr>
          <p:cNvSpPr/>
          <p:nvPr/>
        </p:nvSpPr>
        <p:spPr>
          <a:xfrm>
            <a:off x="6147103" y="1666754"/>
            <a:ext cx="5470785" cy="3482303"/>
          </a:xfrm>
          <a:prstGeom prst="roundRect">
            <a:avLst>
              <a:gd name="adj" fmla="val 932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707710" y="797018"/>
            <a:ext cx="9092675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1 ·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 +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666754"/>
            <a:ext cx="5470785" cy="3482303"/>
          </a:xfrm>
          <a:prstGeom prst="roundRect">
            <a:avLst>
              <a:gd name="adj" fmla="val 93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1989615"/>
            <a:ext cx="436680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— Implement Edit Student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387203"/>
            <a:ext cx="5140196" cy="90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the complete edit flow for your Student Management System. Your edit form must allow changes to all four fields: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287487"/>
            <a:ext cx="5140196" cy="157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Name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Address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/ Department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CGPA (validate: 0.0 – 10.0)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1989615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303904" y="2387005"/>
            <a:ext cx="5232666" cy="1041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 Bootstrap </a:t>
            </a:r>
            <a:r>
              <a:rPr lang="en-US" sz="16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green banner immediately after a successful update. The message should auto-dismiss after 3 seconds using JavaScript.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03904" y="3561575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3904" y="3991687"/>
            <a:ext cx="5232666" cy="950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</a:t>
            </a:r>
            <a:r>
              <a:rPr lang="en-US" sz="16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updated_at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column to your table and display "Last Updated: [time]" next to each student row.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AE2F7-52A6-1467-CE3F-6C4A976FF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2863"/>
            <a:ext cx="885108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2162473"/>
            <a:ext cx="12962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89895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Deleting Records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254673"/>
            <a:ext cx="6735396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Confirm. Then Delete.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661475" y="421590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Deleting is permanent. In this module you'll build a safe delete flow with a JavaScript confirmation dialog — because a good developer always asks "Are you sure?" before destroying data.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E80B75-B7B5-0907-ED3E-DFB490D80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7">
            <a:extLst>
              <a:ext uri="{FF2B5EF4-FFF2-40B4-BE49-F238E27FC236}">
                <a16:creationId xmlns:a16="http://schemas.microsoft.com/office/drawing/2014/main" id="{419121D0-7455-A389-15C1-CFFDDEDC3A01}"/>
              </a:ext>
            </a:extLst>
          </p:cNvPr>
          <p:cNvSpPr/>
          <p:nvPr/>
        </p:nvSpPr>
        <p:spPr>
          <a:xfrm>
            <a:off x="6140866" y="4963886"/>
            <a:ext cx="5459375" cy="1650669"/>
          </a:xfrm>
          <a:prstGeom prst="roundRect">
            <a:avLst>
              <a:gd name="adj" fmla="val 1766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95325" y="785468"/>
            <a:ext cx="6201116" cy="355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2 · Concept: How DELETE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5325" y="1362375"/>
            <a:ext cx="10841245" cy="620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delete operation is simple but dangerous. One unprotected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a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clause wipes an entire table. The safest pattern: confirm in JavaScript first, then execute in PHP only if confirmed.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b="11393"/>
          <a:stretch>
            <a:fillRect/>
          </a:stretch>
        </p:blipFill>
        <p:spPr>
          <a:xfrm>
            <a:off x="835702" y="1729482"/>
            <a:ext cx="10520595" cy="34981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247" y="4209902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removed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417" y="4209902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runs DELETE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455" y="4209902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clicks OK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493" y="4209902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JS confirm dialog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6056" y="4209902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clicks Delete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579621" y="4963886"/>
            <a:ext cx="5459375" cy="1650669"/>
          </a:xfrm>
          <a:prstGeom prst="roundRect">
            <a:avLst>
              <a:gd name="adj" fmla="val 1766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5325" y="5142686"/>
            <a:ext cx="2030858" cy="27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SQL Pattern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2012" y="5421611"/>
            <a:ext cx="5243282" cy="1077020"/>
          </a:xfrm>
          <a:prstGeom prst="roundRect">
            <a:avLst>
              <a:gd name="adj" fmla="val 3192"/>
            </a:avLst>
          </a:prstGeom>
          <a:solidFill>
            <a:srgbClr val="09F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4090" y="5594706"/>
            <a:ext cx="4959127" cy="790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</a:t>
            </a:r>
            <a:endParaRPr lang="en-US" sz="24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2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5;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240902" y="5137678"/>
            <a:ext cx="3179782" cy="17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the Confirmation Dialog Matters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40902" y="5457986"/>
            <a:ext cx="5295668" cy="1040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Accidental clicks happen. A single </a:t>
            </a:r>
            <a:r>
              <a:rPr lang="en-US" sz="14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window.confirm()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call costs 1 line of JavaScript and prevents irreversible data loss. In production systems, a soft-delete approach (marking records as deleted rather than removing them) is even safer.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74A29A8-E55F-B90C-6BEE-1D7D1A64DB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32922"/>
            <a:ext cx="6296860" cy="1058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2 ·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 +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5233360" y="2246709"/>
            <a:ext cx="3065783" cy="2960340"/>
          </a:xfrm>
          <a:prstGeom prst="roundRect">
            <a:avLst>
              <a:gd name="adj" fmla="val 108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98655" y="2412008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98655" y="2776040"/>
            <a:ext cx="2735194" cy="224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</a:t>
            </a: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Delete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button to each row in your student table. Clicking it should pass the student's ID to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delete.php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run a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 WHERE id=?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query, and redirect back to the table.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64437" y="2246709"/>
            <a:ext cx="3065783" cy="2960340"/>
          </a:xfrm>
          <a:prstGeom prst="roundRect">
            <a:avLst>
              <a:gd name="adj" fmla="val 108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29732" y="2412008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29732" y="2776041"/>
            <a:ext cx="2735194" cy="224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delete request is sent, show a JavaScript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confirm()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dialog: </a:t>
            </a:r>
            <a:r>
              <a:rPr lang="en-US" sz="14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"Are you sure you want to delete this record? This action cannot be undone."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Only proceed if the user clicks OK.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360" y="5306268"/>
            <a:ext cx="6296860" cy="1223863"/>
          </a:xfrm>
          <a:prstGeom prst="roundRect">
            <a:avLst>
              <a:gd name="adj" fmla="val 202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98655" y="5471566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398655" y="5835600"/>
            <a:ext cx="59662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deletion, display a Bootstrap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alert-danger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 banner: </a:t>
            </a:r>
            <a:r>
              <a:rPr lang="en-US" sz="13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"Record deleted successfully."</a:t>
            </a: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Include the student's name in the message for extra clarity.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F2DEE2-A44E-DEF8-D191-CD03CBFA8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2863"/>
            <a:ext cx="886100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2162473"/>
            <a:ext cx="129725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95325" y="2625671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Searching Records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95325" y="3263757"/>
            <a:ext cx="6315512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Find. Filter. Fast.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755338" y="4098296"/>
            <a:ext cx="10868745" cy="1466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your table has hundreds of students, scrolling is not a solution. In this module you'll build a live search feature that filters results by name, branch, or email using PHP and SQL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queries.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B872BB-CA2A-6297-2D1D-B042D2751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0">
            <a:extLst>
              <a:ext uri="{FF2B5EF4-FFF2-40B4-BE49-F238E27FC236}">
                <a16:creationId xmlns:a16="http://schemas.microsoft.com/office/drawing/2014/main" id="{6425C0B0-C06C-1E35-B185-F385AF3B511C}"/>
              </a:ext>
            </a:extLst>
          </p:cNvPr>
          <p:cNvSpPr/>
          <p:nvPr/>
        </p:nvSpPr>
        <p:spPr>
          <a:xfrm>
            <a:off x="6133152" y="5069420"/>
            <a:ext cx="5452628" cy="1511363"/>
          </a:xfrm>
          <a:prstGeom prst="roundRect">
            <a:avLst>
              <a:gd name="adj" fmla="val 1503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22434" y="809736"/>
            <a:ext cx="8057771" cy="444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3 · Concept: How Search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22434" y="1485613"/>
            <a:ext cx="10400008" cy="521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uses the SQL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operator with wildcard characters. The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symbol matches any number of characters before or after your search term, making it flexible for partial-word matches.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2" y="1928025"/>
            <a:ext cx="10569001" cy="3116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14998" y="3987558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Capture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914999" y="4364337"/>
            <a:ext cx="1642671" cy="795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and sanitize input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062573" y="3693428"/>
            <a:ext cx="1642670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 Results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062573" y="4322963"/>
            <a:ext cx="1642670" cy="542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filtered rows in table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89895" y="2417875"/>
            <a:ext cx="1642671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Search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89895" y="2809508"/>
            <a:ext cx="1642671" cy="983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query into search box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470" y="2344768"/>
            <a:ext cx="1642670" cy="58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LIKE Query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37470" y="3016689"/>
            <a:ext cx="1642670" cy="1387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SELECT ... WHERE field LIKE '%term%'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01945" y="5069420"/>
            <a:ext cx="5452628" cy="1511363"/>
          </a:xfrm>
          <a:prstGeom prst="roundRect">
            <a:avLst>
              <a:gd name="adj" fmla="val 1503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22434" y="5227033"/>
            <a:ext cx="1643220" cy="22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SQL Pattern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4592" y="5972572"/>
            <a:ext cx="5287334" cy="561777"/>
          </a:xfrm>
          <a:prstGeom prst="roundRect">
            <a:avLst>
              <a:gd name="adj" fmla="val 2208"/>
            </a:avLst>
          </a:prstGeom>
          <a:solidFill>
            <a:srgbClr val="09F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80524" y="5487072"/>
            <a:ext cx="5295470" cy="1047277"/>
          </a:xfrm>
          <a:prstGeom prst="roundRect">
            <a:avLst>
              <a:gd name="adj" fmla="val 2208"/>
            </a:avLst>
          </a:prstGeom>
          <a:solidFill>
            <a:srgbClr val="09F2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83809" y="5577153"/>
            <a:ext cx="5088902" cy="874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LIKE '%john%'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 email LIKE '%john%'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D73A49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 branch LIKE '%john%';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02875" y="5227033"/>
            <a:ext cx="1977139" cy="249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 Best Practices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03001" y="5500909"/>
            <a:ext cx="5333569" cy="906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sanitize the search input before using it in a query</a:t>
            </a:r>
            <a:endParaRPr lang="en-US" sz="1400" dirty="0">
              <a:solidFill>
                <a:schemeClr val="bg1"/>
              </a:solidFill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prepared statements to prevent SQL injection</a:t>
            </a:r>
            <a:endParaRPr lang="en-US" sz="1400" dirty="0">
              <a:solidFill>
                <a:schemeClr val="bg1"/>
              </a:solidFill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 "No results found" message for empty result sets</a:t>
            </a:r>
            <a:endParaRPr lang="en-US" sz="1400" dirty="0">
              <a:solidFill>
                <a:schemeClr val="bg1"/>
              </a:solidFill>
            </a:endParaRPr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Preserve the search term in the input box after submission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02208C-70F1-1EAD-7994-12926FEE6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109" y="782268"/>
            <a:ext cx="9181374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3 ·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 +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21109" y="1570065"/>
            <a:ext cx="10809111" cy="700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wire up search in your Student Management System. Your goal is a functional search bar that filters the student table in real time on form submit.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57054"/>
            <a:ext cx="3512653" cy="3884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3781" y="25690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3137495"/>
            <a:ext cx="2550553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Requirements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501529"/>
            <a:ext cx="3143965" cy="283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Bootstrap search input above the student table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student name using a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only matching records in the table</a:t>
            </a:r>
            <a:endParaRPr lang="en-US" sz="16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 "No students found" row if no matches exist</a:t>
            </a:r>
            <a:endParaRPr lang="en-US" sz="16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9422" y="2457054"/>
            <a:ext cx="3512752" cy="38841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1728" y="25690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23766" y="313749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3766" y="3501529"/>
            <a:ext cx="3144064" cy="283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your search to also filter by 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Use an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clause so a single search term matches name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branch.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17468" y="2457054"/>
            <a:ext cx="3512653" cy="38841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9774" y="25690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01812" y="313749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501529"/>
            <a:ext cx="3143965" cy="283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PHP's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str_replace()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JavaScript to 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 the matching keyword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yellow inside the search results — just like Google does.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B8ECD29-8942-B013-A9C2-2A3C2C86E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12863"/>
            <a:ext cx="889871" cy="310952"/>
          </a:xfrm>
          <a:prstGeom prst="roundRect">
            <a:avLst>
              <a:gd name="adj" fmla="val 6383"/>
            </a:avLst>
          </a:prstGeom>
          <a:solidFill>
            <a:srgbClr val="CCF1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2162473"/>
            <a:ext cx="130102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89895"/>
            <a:ext cx="525627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User Experience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254673"/>
            <a:ext cx="6315512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Polish Matters.</a:t>
            </a:r>
            <a:endParaRPr lang="en-US" sz="4450" dirty="0"/>
          </a:p>
        </p:txBody>
      </p:sp>
      <p:sp>
        <p:nvSpPr>
          <p:cNvPr id="6" name="Text 4"/>
          <p:cNvSpPr/>
          <p:nvPr/>
        </p:nvSpPr>
        <p:spPr>
          <a:xfrm>
            <a:off x="695325" y="4215904"/>
            <a:ext cx="10834895" cy="818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without good UX feel broken. In this final module you'll add Bootstrap alerts, empty states, hover effects, and a professional table layout — turning your working app into a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great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app.</a:t>
            </a:r>
            <a:endParaRPr lang="en-US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BE4C93-E52C-E06F-EC92-5681A009B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1880"/>
            <a:ext cx="911876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· Concept: UX That Users Notice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67830"/>
            <a:ext cx="10868745" cy="719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 between a student project and a professional application often comes down to the small things: feedback messages, empty states, and visual polish. These take minutes to add but make a world of difference.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73300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325" y="288460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Alerts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95325" y="3251101"/>
            <a:ext cx="5297139" cy="1025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alert-danger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confirm to the user that their action worked — or failed. Never leave the user guessing.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9132" y="2273300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99132" y="289341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Empty State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199132" y="3251101"/>
            <a:ext cx="5331089" cy="1045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no records exist or no search matches, show a friendly "No students found" message. A blank table looks broken; an empty state looks intentional.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75646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499576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Professional Table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61475" y="5353446"/>
            <a:ext cx="5330989" cy="1045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Bootstrap's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table-hover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table-striped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table-bordered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classes. Add action buttons with icons using Bootstrap Icons for a polished, modern look.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4375646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9132" y="500107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Count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199132" y="5353447"/>
            <a:ext cx="5331089" cy="1045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the total number of students with a Bootstrap badge: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"Showing 12 students."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Small details like this build trust in the application.</a:t>
            </a:r>
            <a:endParaRPr lang="en-US" sz="1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319F8CB-0D63-0F19-DA34-A11DFCDE2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">
            <a:extLst>
              <a:ext uri="{FF2B5EF4-FFF2-40B4-BE49-F238E27FC236}">
                <a16:creationId xmlns:a16="http://schemas.microsoft.com/office/drawing/2014/main" id="{0ECD57C7-1442-CFFE-9C42-538C80798BCC}"/>
              </a:ext>
            </a:extLst>
          </p:cNvPr>
          <p:cNvSpPr/>
          <p:nvPr/>
        </p:nvSpPr>
        <p:spPr>
          <a:xfrm>
            <a:off x="6065785" y="2008093"/>
            <a:ext cx="5470785" cy="4054739"/>
          </a:xfrm>
          <a:prstGeom prst="roundRect">
            <a:avLst>
              <a:gd name="adj" fmla="val 932"/>
            </a:avLst>
          </a:prstGeom>
          <a:solidFill>
            <a:srgbClr val="002060"/>
          </a:solidFill>
          <a:ln/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0"/>
          <p:cNvSpPr/>
          <p:nvPr/>
        </p:nvSpPr>
        <p:spPr>
          <a:xfrm>
            <a:off x="695325" y="795167"/>
            <a:ext cx="9194074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 4 ·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 +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008094"/>
            <a:ext cx="5470785" cy="4054739"/>
          </a:xfrm>
          <a:prstGeom prst="roundRect">
            <a:avLst>
              <a:gd name="adj" fmla="val 932"/>
            </a:avLst>
          </a:prstGeom>
          <a:solidFill>
            <a:srgbClr val="16FF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710" y="2285517"/>
            <a:ext cx="5140196" cy="366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240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 — Polish the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07710" y="2651622"/>
            <a:ext cx="5140196" cy="959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all four UX improvements to your Student Management System: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07710" y="3610969"/>
            <a:ext cx="5140196" cy="23199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</a:t>
            </a:r>
            <a:r>
              <a:rPr lang="en-US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insert/update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</a:t>
            </a:r>
            <a:r>
              <a:rPr lang="en-US" dirty="0">
                <a:solidFill>
                  <a:srgbClr val="000000"/>
                </a:solidFill>
                <a:highlight>
                  <a:srgbClr val="09F2A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alert-danger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after delete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 state message when no records found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 Icons on action buttons (✏️ Edit, 🗑 Delete)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03904" y="2285517"/>
            <a:ext cx="2676954" cy="366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2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Challenge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303904" y="2635151"/>
            <a:ext cx="5075296" cy="1670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alternating row colors using Bootstrap's </a:t>
            </a:r>
            <a:r>
              <a:rPr lang="en-US" sz="20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table-striped</a:t>
            </a: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class and customize the stripe color with a small CSS override to match your app's theme.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303904" y="4324174"/>
            <a:ext cx="2676954" cy="331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2400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303904" y="4754287"/>
            <a:ext cx="5075296" cy="1176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 dynamic counter badge at the top of the table: </a:t>
            </a:r>
            <a:r>
              <a:rPr lang="en-US" sz="20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"Total Students: 12"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pulled live from a </a:t>
            </a:r>
            <a:r>
              <a:rPr lang="en-US" sz="20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in PHP.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0B3656-D2E7-F141-9957-C6E1ECF9C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325" y="825699"/>
            <a:ext cx="6487653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🐛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Bug Hunt — Guess the Result</a:t>
            </a:r>
            <a:endParaRPr lang="en-US" sz="3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72302"/>
            <a:ext cx="5351725" cy="21561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1756651"/>
            <a:ext cx="3926608" cy="35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#1 — Wrong SQL Keyword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22017" y="2114334"/>
            <a:ext cx="4906840" cy="142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student used </a:t>
            </a:r>
            <a:r>
              <a:rPr lang="en-US" sz="2000" dirty="0">
                <a:solidFill>
                  <a:schemeClr val="bg1"/>
                </a:solidFill>
                <a:highlight>
                  <a:srgbClr val="000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instead of </a:t>
            </a:r>
            <a:r>
              <a:rPr lang="en-US" sz="2000" dirty="0">
                <a:solidFill>
                  <a:schemeClr val="bg1"/>
                </a:solidFill>
                <a:highlight>
                  <a:srgbClr val="000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edit form handler. What happens when they save?</a:t>
            </a:r>
            <a:endParaRPr lang="en-US" sz="2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1572302"/>
            <a:ext cx="5351725" cy="21561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1756651"/>
            <a:ext cx="4830946" cy="357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#2 — Missing WHERE Clause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439037" y="2114334"/>
            <a:ext cx="4906840" cy="142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20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 runs without </a:t>
            </a:r>
            <a:b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000" dirty="0">
                <a:solidFill>
                  <a:schemeClr val="bg1"/>
                </a:solidFill>
                <a:highlight>
                  <a:srgbClr val="000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?</a:t>
            </a:r>
            <a:r>
              <a:rPr 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b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student's data is now identical. How do you prevent this?</a:t>
            </a:r>
            <a:endParaRPr lang="en-US" sz="2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4" y="3895608"/>
            <a:ext cx="5332677" cy="215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079957"/>
            <a:ext cx="27768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#3 — Delete Without ID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934585" y="4505605"/>
            <a:ext cx="4906840" cy="1365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delete link passes no ID. </a:t>
            </a:r>
            <a:r>
              <a:rPr lang="en-US" sz="2000" dirty="0">
                <a:solidFill>
                  <a:schemeClr val="bg1"/>
                </a:solidFill>
                <a:highlight>
                  <a:srgbClr val="000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students</a:t>
            </a: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without a WHERE clause. The entire table is wiped.</a:t>
            </a:r>
            <a:endParaRPr lang="en-US" sz="2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3895607"/>
            <a:ext cx="5351725" cy="21561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9037" y="4079956"/>
            <a:ext cx="258517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Bug #4 — No Primary Key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6439037" y="4505603"/>
            <a:ext cx="4906840" cy="1365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table was created without a primary key. Edit and Delete have no reliable way to target a single row. Always define </a:t>
            </a:r>
            <a:b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8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 INT AUTO_INCREMENT PRIMARY KEY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6754C8-C43F-2436-046A-45E973F1E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2417"/>
            <a:ext cx="6448264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Build Sprint — 30 Minutes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01067"/>
            <a:ext cx="10868745" cy="1025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your final boss. Build a complete, production-ready 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Management Portal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scratch — or extend your existing project. 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Timer starts now.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61475" y="2612529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826769" y="277782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Create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6769" y="3141861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new student with form validation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8495" y="2612529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343789" y="2777827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Read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3789" y="3141861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all students in a Bootstrap table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1475" y="3737074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826769" y="390237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✏️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Update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6769" y="4266406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Pre-filled edit form with success alert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78495" y="3737074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/>
          <p:nvPr/>
        </p:nvSpPr>
        <p:spPr>
          <a:xfrm>
            <a:off x="6343789" y="3902373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🗑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Delete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3789" y="4266406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dialog + success message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1475" y="4861620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Text 15"/>
          <p:cNvSpPr/>
          <p:nvPr/>
        </p:nvSpPr>
        <p:spPr>
          <a:xfrm>
            <a:off x="826769" y="5026918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Search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6769" y="5390952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name and branch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8495" y="4861620"/>
            <a:ext cx="5351725" cy="959247"/>
          </a:xfrm>
          <a:prstGeom prst="roundRect">
            <a:avLst>
              <a:gd name="adj" fmla="val 258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6343789" y="5026918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43789" y="5390952"/>
            <a:ext cx="50211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layout + professional icons + record count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06DE1D9-81C8-DD31-3B15-728B2F2C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0560"/>
            <a:ext cx="7665747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🎤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Demo Day — Student Showcase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65255"/>
            <a:ext cx="10868745" cy="810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team gets exactly </a:t>
            </a:r>
            <a:r>
              <a:rPr lang="en-US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minutes</a:t>
            </a:r>
            <a:r>
              <a:rPr lang="en-US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present their Student Management System to the class. The instructor will ask one technical question per team — so be ready to explain your code, not just show it.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4603" y="23040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3039" y="2565937"/>
            <a:ext cx="5351725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3039" y="26866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Show Your App Live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3039" y="3044370"/>
            <a:ext cx="5351725" cy="716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the running application in the browser — add, edit, delete, and search a student record live.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51232" y="23040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51232" y="2565937"/>
            <a:ext cx="5351725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59853" y="26866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Walk Through CRUD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59853" y="3044370"/>
            <a:ext cx="5351725" cy="67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Briefly point to the code for each operation and explain what each block does in plain English.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4603" y="41227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03039" y="4384637"/>
            <a:ext cx="5351725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3039" y="450538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Biggest Challenge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3039" y="4863070"/>
            <a:ext cx="5351725" cy="680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was the hardest part to implement? What error did you hit, and how did you solve it?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1232" y="412270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51232" y="4384637"/>
            <a:ext cx="5351725" cy="19050"/>
          </a:xfrm>
          <a:prstGeom prst="rect">
            <a:avLst/>
          </a:prstGeom>
          <a:solidFill>
            <a:srgbClr val="00AD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9853" y="4505387"/>
            <a:ext cx="24968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One Future Improvement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59853" y="4863070"/>
            <a:ext cx="5351725" cy="680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had 30 more minutes, what feature would you add next — and why?</a:t>
            </a:r>
            <a:endParaRPr lang="en-US" sz="16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C7924CD-E707-2DE7-CCA4-6858DCCE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2537"/>
            <a:ext cx="6850189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r>
              <a:rPr lang="en-US" sz="32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Interview Quiz — Think Fast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95325" y="1391187"/>
            <a:ext cx="10911320" cy="427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real interview questions asked by tech companies. Answer out loud. No Googling. 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039" y="2004318"/>
            <a:ext cx="3512653" cy="19973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60149" y="212834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0099" y="257070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INSERT vs. UPDATE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099" y="2837457"/>
            <a:ext cx="3304309" cy="105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exact difference? When would you use each one in a Student Management System?</a:t>
            </a:r>
            <a:endParaRPr lang="en-US" sz="15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0986" y="2004318"/>
            <a:ext cx="3512752" cy="19973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8096" y="212834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488873" y="25723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WHERE Clause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88873" y="2820889"/>
            <a:ext cx="3293918" cy="1071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purpose of </a:t>
            </a:r>
            <a:r>
              <a:rPr lang="en-US" sz="16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DELETE or UPDATE query? What happens if you omit it?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9032" y="2004318"/>
            <a:ext cx="3512653" cy="19973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6142" y="2128341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167255" y="257070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Primary Key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67255" y="2837457"/>
            <a:ext cx="3321705" cy="1054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table has no primary key, how do you uniquely identify a student to edit or delete? What problems arise?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2648" y="4166989"/>
            <a:ext cx="5351626" cy="199737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69195" y="429101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876992" y="4828480"/>
            <a:ext cx="22353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 Before Delete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76992" y="5186164"/>
            <a:ext cx="4982939" cy="830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a confirmation dialog best practice? What alternative pattern do production apps use instead of hard-deleting records?</a:t>
            </a:r>
            <a:endParaRPr lang="en-US" sz="15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9568" y="4166989"/>
            <a:ext cx="5351725" cy="199737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86215" y="4291013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393912" y="482848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Output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393912" y="5186164"/>
            <a:ext cx="4983038" cy="830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</a:t>
            </a:r>
            <a:r>
              <a:rPr lang="en-US" sz="15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students WHERE cgpa &gt; 8.0 ORDER BY name ASC</a:t>
            </a: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return? Describe the result set.</a:t>
            </a:r>
            <a:endParaRPr lang="en-US" sz="15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202460-1877-94E1-5B8B-640B09505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131"/>
            <a:ext cx="6901781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3050" b="1" dirty="0">
                <a:solidFill>
                  <a:srgbClr val="04104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Assignment — Push It Further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5325" y="1566627"/>
            <a:ext cx="10911320" cy="658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Tonight's assignment extends your Student Management System into a more complete, real-world application. 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your final code to GitHub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before the start of tomorrow's session.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2648" y="2412021"/>
            <a:ext cx="353508" cy="3535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64204" y="2465996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Profile Photo Upload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4204" y="2761201"/>
            <a:ext cx="4931796" cy="844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file input to the student form. Store the filename in MySQL and display the photo in the student table using an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&lt;img&gt;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05716" y="3865771"/>
            <a:ext cx="353508" cy="3535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98054" y="3919746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Status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98054" y="4250372"/>
            <a:ext cx="4897946" cy="901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Active / Inactive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status dropdown. Filter the table to show only active students by default, with an option to view all.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5716" y="5265546"/>
            <a:ext cx="353508" cy="3535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8445" y="5319521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Course Filter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8445" y="5597177"/>
            <a:ext cx="4887555" cy="901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dropdown filter above the table to show students by department or course. Use a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branch = ?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93725" y="2412021"/>
            <a:ext cx="353508" cy="3535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96454" y="2465996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Multi-Field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296454" y="2761200"/>
            <a:ext cx="4310191" cy="8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 search to cover name, email, branch, and CGPA range simultaneously using combined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conditions.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93725" y="3855869"/>
            <a:ext cx="353508" cy="35351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96454" y="3919746"/>
            <a:ext cx="196398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Dashboard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96454" y="4234460"/>
            <a:ext cx="4310191" cy="1031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stats row at the top: Total Students · Average CGPA · Students per Branch — pulled from SQL aggregate queries.</a:t>
            </a:r>
            <a:endParaRPr lang="en-US" sz="1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1601E1-B526-0037-ED52-81BA7FC81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  <p:pic>
        <p:nvPicPr>
          <p:cNvPr id="22" name="Graphic 21" descr="Inbox with solid fill">
            <a:extLst>
              <a:ext uri="{FF2B5EF4-FFF2-40B4-BE49-F238E27FC236}">
                <a16:creationId xmlns:a16="http://schemas.microsoft.com/office/drawing/2014/main" id="{1B397A01-4952-A36A-E639-A0BFA01F4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067" y="3888126"/>
            <a:ext cx="308806" cy="308806"/>
          </a:xfrm>
          <a:prstGeom prst="rect">
            <a:avLst/>
          </a:prstGeom>
        </p:spPr>
      </p:pic>
      <p:pic>
        <p:nvPicPr>
          <p:cNvPr id="23" name="Graphic 22" descr="Inbox with solid fill">
            <a:extLst>
              <a:ext uri="{FF2B5EF4-FFF2-40B4-BE49-F238E27FC236}">
                <a16:creationId xmlns:a16="http://schemas.microsoft.com/office/drawing/2014/main" id="{EFC63D5A-91C0-96C3-5555-54EE184DD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507" y="2432373"/>
            <a:ext cx="308806" cy="308806"/>
          </a:xfrm>
          <a:prstGeom prst="rect">
            <a:avLst/>
          </a:prstGeom>
        </p:spPr>
      </p:pic>
      <p:pic>
        <p:nvPicPr>
          <p:cNvPr id="24" name="Graphic 23" descr="Inbox with solid fill">
            <a:extLst>
              <a:ext uri="{FF2B5EF4-FFF2-40B4-BE49-F238E27FC236}">
                <a16:creationId xmlns:a16="http://schemas.microsoft.com/office/drawing/2014/main" id="{749A437A-0A63-3825-0D24-8E7385DD8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507" y="5287583"/>
            <a:ext cx="308806" cy="308806"/>
          </a:xfrm>
          <a:prstGeom prst="rect">
            <a:avLst/>
          </a:prstGeom>
        </p:spPr>
      </p:pic>
      <p:pic>
        <p:nvPicPr>
          <p:cNvPr id="25" name="Graphic 24" descr="Inbox with solid fill">
            <a:extLst>
              <a:ext uri="{FF2B5EF4-FFF2-40B4-BE49-F238E27FC236}">
                <a16:creationId xmlns:a16="http://schemas.microsoft.com/office/drawing/2014/main" id="{0676E9DF-259C-3532-BAD0-E03D0145B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6076" y="2432373"/>
            <a:ext cx="308806" cy="308806"/>
          </a:xfrm>
          <a:prstGeom prst="rect">
            <a:avLst/>
          </a:prstGeom>
        </p:spPr>
      </p:pic>
      <p:pic>
        <p:nvPicPr>
          <p:cNvPr id="26" name="Graphic 25" descr="Inbox with solid fill">
            <a:extLst>
              <a:ext uri="{FF2B5EF4-FFF2-40B4-BE49-F238E27FC236}">
                <a16:creationId xmlns:a16="http://schemas.microsoft.com/office/drawing/2014/main" id="{AEB4C201-9234-4C72-DF13-D9CD8134B5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6076" y="3888126"/>
            <a:ext cx="308806" cy="308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2444</Words>
  <Application>Microsoft Macintosh PowerPoint</Application>
  <PresentationFormat>Widescreen</PresentationFormat>
  <Paragraphs>263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Twemoji Mozilla</vt:lpstr>
      <vt:lpstr>Inter</vt:lpstr>
      <vt:lpstr>Inter Bold</vt:lpstr>
      <vt:lpstr>Inter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15</cp:revision>
  <dcterms:created xsi:type="dcterms:W3CDTF">2026-07-06T10:02:21Z</dcterms:created>
  <dcterms:modified xsi:type="dcterms:W3CDTF">2026-07-06T11:58:12Z</dcterms:modified>
</cp:coreProperties>
</file>